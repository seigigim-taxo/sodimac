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00300"/>
            <a:ext cx="12191695" cy="2743200"/>
          </a:xfrm>
          <a:prstGeom prst="rect">
            <a:avLst/>
          </a:prstGeom>
          <a:solidFill>
            <a:srgbClr val="1E1B4B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312E81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1965960"/>
            <a:ext cx="2194560" cy="2194560"/>
          </a:xfrm>
          <a:prstGeom prst="ellipse">
            <a:avLst/>
          </a:prstGeom>
          <a:solidFill>
            <a:srgbClr val="6366F1">
              <a:alpha val="45000"/>
            </a:srgbClr>
          </a:solidFill>
          <a:ln w="15875">
            <a:solidFill>
              <a:srgbClr val="8B5CF6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56032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103120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INVENTARIO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7315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móvil de conteo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offline-first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420624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de desarrollo — presentación al equipo técnico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846320"/>
            <a:ext cx="201168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Desarrollo  ·  Sodimac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 y el objetivo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27168" cy="4160520"/>
          </a:xfrm>
          <a:prstGeom prst="roundRect">
            <a:avLst>
              <a:gd name="adj" fmla="val 3077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94560"/>
            <a:ext cx="777240" cy="77724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478" y="2318918"/>
            <a:ext cx="528523" cy="52852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154680"/>
            <a:ext cx="458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desafío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60120" y="3611880"/>
            <a:ext cx="458708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conteo físico de inventario se hace hoy en tienda con PDAs, en pasillos y bodegas donde la conectividad es intermitente o inexistente.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dependencia de red durante el conteo interrumpe el trabajo del operador y arriesga la integridad de los datos capturados.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24448" y="1783080"/>
            <a:ext cx="5227168" cy="4160520"/>
          </a:xfrm>
          <a:prstGeom prst="roundRect">
            <a:avLst>
              <a:gd name="adj" fmla="val 3077"/>
            </a:avLst>
          </a:prstGeom>
          <a:solidFill>
            <a:srgbClr val="1A1B2E"/>
          </a:solidFill>
          <a:ln/>
        </p:spPr>
      </p:sp>
      <p:sp>
        <p:nvSpPr>
          <p:cNvPr id="10" name="Shape 7"/>
          <p:cNvSpPr/>
          <p:nvPr/>
        </p:nvSpPr>
        <p:spPr>
          <a:xfrm>
            <a:off x="6644488" y="2194560"/>
            <a:ext cx="777240" cy="777240"/>
          </a:xfrm>
          <a:prstGeom prst="ellipse">
            <a:avLst/>
          </a:prstGeom>
          <a:solidFill>
            <a:srgbClr val="8B5CF6">
              <a:alpha val="55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8846" y="2318918"/>
            <a:ext cx="528523" cy="52852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44488" y="3154680"/>
            <a:ext cx="45870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objetivo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44488" y="3611880"/>
            <a:ext cx="4587088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app offline-first: el operador se autentica y descarga sus datos una vez, y desde ahí cuenta sin depender de la red.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conteo persiste de inmediato en el dispositivo. La sincronización con el servidor ocurre en un momento explícito y controlado, no en cada acción.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CONSTRUIDA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en capas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— cada capa depende solo de la interior. El dominio no conoce Angular, SQLite ni HTTP.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46608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1A1B2E"/>
          </a:solidFill>
          <a:ln/>
        </p:spPr>
      </p:sp>
      <p:sp>
        <p:nvSpPr>
          <p:cNvPr id="6" name="Shape 4"/>
          <p:cNvSpPr/>
          <p:nvPr/>
        </p:nvSpPr>
        <p:spPr>
          <a:xfrm>
            <a:off x="1249528" y="26060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940" y="27084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660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38048" y="391363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264" y="3282696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986888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6366F1"/>
          </a:solidFill>
          <a:ln/>
        </p:spPr>
      </p:sp>
      <p:sp>
        <p:nvSpPr>
          <p:cNvPr id="12" name="Shape 8"/>
          <p:cNvSpPr/>
          <p:nvPr/>
        </p:nvSpPr>
        <p:spPr>
          <a:xfrm>
            <a:off x="3489808" y="26060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2220" y="2708453"/>
            <a:ext cx="526694" cy="52669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98688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3078328" y="391363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544" y="3282696"/>
            <a:ext cx="292608" cy="29260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5227168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1A1B2E"/>
          </a:solidFill>
          <a:ln/>
        </p:spPr>
      </p:sp>
      <p:sp>
        <p:nvSpPr>
          <p:cNvPr id="18" name="Shape 12"/>
          <p:cNvSpPr/>
          <p:nvPr/>
        </p:nvSpPr>
        <p:spPr>
          <a:xfrm>
            <a:off x="5730088" y="26060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500" y="2708453"/>
            <a:ext cx="526694" cy="52669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22716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5318608" y="391363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HTTP</a:t>
            </a:r>
            <a:endParaRPr lang="en-US" sz="10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6824" y="3282696"/>
            <a:ext cx="292608" cy="292608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7467448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6366F1"/>
          </a:solidFill>
          <a:ln/>
        </p:spPr>
      </p:sp>
      <p:sp>
        <p:nvSpPr>
          <p:cNvPr id="24" name="Shape 16"/>
          <p:cNvSpPr/>
          <p:nvPr/>
        </p:nvSpPr>
        <p:spPr>
          <a:xfrm>
            <a:off x="7970368" y="26060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780" y="2708453"/>
            <a:ext cx="526694" cy="526694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6744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500" dirty="0"/>
          </a:p>
        </p:txBody>
      </p:sp>
      <p:sp>
        <p:nvSpPr>
          <p:cNvPr id="27" name="Text 18"/>
          <p:cNvSpPr/>
          <p:nvPr/>
        </p:nvSpPr>
        <p:spPr>
          <a:xfrm>
            <a:off x="7558888" y="391363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(signals)</a:t>
            </a:r>
            <a:endParaRPr lang="en-US" sz="105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7104" y="3282696"/>
            <a:ext cx="292608" cy="292608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9707728" y="2286000"/>
            <a:ext cx="1737360" cy="2286000"/>
          </a:xfrm>
          <a:prstGeom prst="roundRect">
            <a:avLst>
              <a:gd name="adj" fmla="val 6316"/>
            </a:avLst>
          </a:prstGeom>
          <a:solidFill>
            <a:srgbClr val="1A1B2E"/>
          </a:solidFill>
          <a:ln/>
        </p:spPr>
      </p:sp>
      <p:sp>
        <p:nvSpPr>
          <p:cNvPr id="30" name="Shape 20"/>
          <p:cNvSpPr/>
          <p:nvPr/>
        </p:nvSpPr>
        <p:spPr>
          <a:xfrm>
            <a:off x="10210648" y="2606040"/>
            <a:ext cx="731520" cy="731520"/>
          </a:xfrm>
          <a:prstGeom prst="ellipse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13060" y="2708453"/>
            <a:ext cx="526694" cy="526694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9707728" y="35204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</a:t>
            </a:r>
            <a:endParaRPr lang="en-US" sz="1500" dirty="0"/>
          </a:p>
        </p:txBody>
      </p:sp>
      <p:sp>
        <p:nvSpPr>
          <p:cNvPr id="33" name="Text 22"/>
          <p:cNvSpPr/>
          <p:nvPr/>
        </p:nvSpPr>
        <p:spPr>
          <a:xfrm>
            <a:off x="9799168" y="391363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D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050" dirty="0"/>
          </a:p>
        </p:txBody>
      </p:sp>
      <p:sp>
        <p:nvSpPr>
          <p:cNvPr id="34" name="Shape 23"/>
          <p:cNvSpPr/>
          <p:nvPr/>
        </p:nvSpPr>
        <p:spPr>
          <a:xfrm>
            <a:off x="2278228" y="5257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2278228" y="5257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18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4244188" y="5257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37" name="Text 26"/>
          <p:cNvSpPr/>
          <p:nvPr/>
        </p:nvSpPr>
        <p:spPr>
          <a:xfrm>
            <a:off x="4244188" y="5257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Ionic</a:t>
            </a:r>
            <a:endParaRPr lang="en-US" sz="1200" dirty="0"/>
          </a:p>
        </p:txBody>
      </p:sp>
      <p:sp>
        <p:nvSpPr>
          <p:cNvPr id="38" name="Shape 27"/>
          <p:cNvSpPr/>
          <p:nvPr/>
        </p:nvSpPr>
        <p:spPr>
          <a:xfrm>
            <a:off x="6210148" y="5257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210148" y="5257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Capacitor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8176108" y="525780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8176108" y="5257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(offline)</a:t>
            </a:r>
            <a:endParaRPr lang="en-US" sz="1200" dirty="0"/>
          </a:p>
        </p:txBody>
      </p:sp>
      <p:sp>
        <p:nvSpPr>
          <p:cNvPr id="42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00300"/>
            <a:ext cx="12191695" cy="2743200"/>
          </a:xfrm>
          <a:prstGeom prst="rect">
            <a:avLst/>
          </a:prstGeom>
          <a:solidFill>
            <a:srgbClr val="1E1B4B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312E81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804" y="1522476"/>
            <a:ext cx="704088" cy="704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del conteo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371600" y="35204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selección de tienda a la sincronización con el servidor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END-TO-END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principio a fin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9806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743" y="2296516"/>
            <a:ext cx="573329" cy="57332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1071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1071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658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8658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u offline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caché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93990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54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223" y="2296516"/>
            <a:ext cx="573329" cy="573329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16519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16519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214106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Tienda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14106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Asignada 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49438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10702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4703" y="2296516"/>
            <a:ext cx="573329" cy="573329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471967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71967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369554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Evento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369554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más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uno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504886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566150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183" y="2296516"/>
            <a:ext cx="573329" cy="573329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27415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27415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525002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+ TAG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25002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660334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721598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3663" y="2296516"/>
            <a:ext cx="573329" cy="573329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782863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782863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680450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Conteo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80450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SKUs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5782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77046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8143" y="2296516"/>
            <a:ext cx="573329" cy="573329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938311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938311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835898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Finalizar</a:t>
            </a:r>
            <a:endParaRPr lang="en-US" sz="1300" dirty="0"/>
          </a:p>
        </p:txBody>
      </p:sp>
      <p:sp>
        <p:nvSpPr>
          <p:cNvPr id="44" name="Text 36"/>
          <p:cNvSpPr/>
          <p:nvPr/>
        </p:nvSpPr>
        <p:spPr>
          <a:xfrm>
            <a:off x="835898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</a:t>
            </a:r>
            <a:endParaRPr lang="en-US" sz="1000" dirty="0"/>
          </a:p>
        </p:txBody>
      </p:sp>
      <p:sp>
        <p:nvSpPr>
          <p:cNvPr id="45" name="Shape 37"/>
          <p:cNvSpPr/>
          <p:nvPr/>
        </p:nvSpPr>
        <p:spPr>
          <a:xfrm>
            <a:off x="9712300" y="2583180"/>
            <a:ext cx="548640" cy="0"/>
          </a:xfrm>
          <a:prstGeom prst="line">
            <a:avLst/>
          </a:prstGeom>
          <a:noFill/>
          <a:ln w="25400">
            <a:solidFill>
              <a:srgbClr val="E4E1F5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10324948" y="2148840"/>
            <a:ext cx="868680" cy="86868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2623" y="2296516"/>
            <a:ext cx="573329" cy="573329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10937596" y="2057400"/>
            <a:ext cx="365760" cy="365760"/>
          </a:xfrm>
          <a:prstGeom prst="ellipse">
            <a:avLst/>
          </a:prstGeom>
          <a:solidFill>
            <a:srgbClr val="EC48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10937596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0" name="Text 41"/>
          <p:cNvSpPr/>
          <p:nvPr/>
        </p:nvSpPr>
        <p:spPr>
          <a:xfrm>
            <a:off x="9913468" y="31546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Sincronizar</a:t>
            </a:r>
            <a:endParaRPr lang="en-US" sz="1300" dirty="0"/>
          </a:p>
        </p:txBody>
      </p:sp>
      <p:sp>
        <p:nvSpPr>
          <p:cNvPr id="51" name="Text 42"/>
          <p:cNvSpPr/>
          <p:nvPr/>
        </p:nvSpPr>
        <p:spPr>
          <a:xfrm>
            <a:off x="9913468" y="347472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640080" y="4434840"/>
            <a:ext cx="10911535" cy="1417320"/>
          </a:xfrm>
          <a:prstGeom prst="roundRect">
            <a:avLst>
              <a:gd name="adj" fmla="val 7742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914400" y="47091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dos momentos requieren internet: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inicio (autenticar y descargar datos) y al cierre (subir los conteos). 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ambos, la app trabaja 100% offline.</a:t>
            </a:r>
            <a:endParaRPr lang="en-US" sz="1400" dirty="0"/>
          </a:p>
        </p:txBody>
      </p:sp>
      <p:sp>
        <p:nvSpPr>
          <p:cNvPr id="54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FLUJO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Escaneo y validación de SKU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1600200" cy="685800"/>
          </a:xfrm>
          <a:prstGeom prst="roundRect">
            <a:avLst>
              <a:gd name="adj" fmla="val 10667"/>
            </a:avLst>
          </a:prstGeom>
          <a:solidFill>
            <a:srgbClr val="1A1B2E"/>
          </a:solidFill>
          <a:ln w="15875">
            <a:solidFill>
              <a:srgbClr val="E4E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2377440"/>
            <a:ext cx="14904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240280" y="2720340"/>
            <a:ext cx="457200" cy="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697480" y="2034540"/>
            <a:ext cx="2011680" cy="1371600"/>
          </a:xfrm>
          <a:prstGeom prst="diamond">
            <a:avLst/>
          </a:prstGeom>
          <a:solidFill>
            <a:srgbClr val="6366F1">
              <a:alpha val="12000"/>
            </a:srgbClr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203454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¿SKU está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muestra?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720340"/>
            <a:ext cx="457200" cy="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166360" y="237744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6F5FC"/>
          </a:solidFill>
          <a:ln w="15875">
            <a:solidFill>
              <a:srgbClr val="E4E1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21224" y="237744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/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acumular cantidad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69480" y="2720340"/>
            <a:ext cx="411480" cy="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680960" y="2377440"/>
            <a:ext cx="2651760" cy="685800"/>
          </a:xfrm>
          <a:prstGeom prst="roundRect">
            <a:avLst>
              <a:gd name="adj" fmla="val 10667"/>
            </a:avLst>
          </a:prstGeom>
          <a:solidFill>
            <a:srgbClr val="6366F1"/>
          </a:solidFill>
          <a:ln w="15875">
            <a:solidFill>
              <a:srgbClr val="E4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5824" y="2377440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Actualizar lista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(feedback verde)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03320" y="3406140"/>
            <a:ext cx="0" cy="480060"/>
          </a:xfrm>
          <a:prstGeom prst="line">
            <a:avLst/>
          </a:prstGeom>
          <a:noFill/>
          <a:ln w="22225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886200"/>
            <a:ext cx="2103120" cy="685800"/>
          </a:xfrm>
          <a:prstGeom prst="roundRect">
            <a:avLst>
              <a:gd name="adj" fmla="val 10667"/>
            </a:avLst>
          </a:prstGeom>
          <a:solidFill>
            <a:srgbClr val="FEE2E2"/>
          </a:solidFill>
          <a:ln w="15875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98064" y="3886200"/>
            <a:ext cx="19933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(feedback rojo)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359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464515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El operador vuelve a escanear de inmediato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5394960"/>
            <a:ext cx="10911535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394960"/>
            <a:ext cx="10362895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feedback (verde / rojo) se retira automáticamente a los 3 segundos; el conteo acumula si el SKU ya se había registrado en la sesión.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 · App · Servidor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500018" cy="4892040"/>
          </a:xfrm>
          <a:prstGeom prst="roundRect">
            <a:avLst>
              <a:gd name="adj" fmla="val 2613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3500018" cy="502920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64792"/>
            <a:ext cx="3500018" cy="246888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62763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087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Operador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77258" y="1508760"/>
            <a:ext cx="3500018" cy="4892040"/>
          </a:xfrm>
          <a:prstGeom prst="roundRect">
            <a:avLst>
              <a:gd name="adj" fmla="val 2613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77258" y="1508760"/>
            <a:ext cx="3500018" cy="502920"/>
          </a:xfrm>
          <a:prstGeom prst="roundRect">
            <a:avLst>
              <a:gd name="adj" fmla="val 18182"/>
            </a:avLst>
          </a:prstGeom>
          <a:solidFill>
            <a:srgbClr val="8B5CF6"/>
          </a:solidFill>
          <a:ln/>
        </p:spPr>
      </p:sp>
      <p:sp>
        <p:nvSpPr>
          <p:cNvPr id="11" name="Shape 8"/>
          <p:cNvSpPr/>
          <p:nvPr/>
        </p:nvSpPr>
        <p:spPr>
          <a:xfrm>
            <a:off x="4277258" y="1764792"/>
            <a:ext cx="3500018" cy="246888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1850" y="162763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80178" y="15087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(local)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914437" y="1508760"/>
            <a:ext cx="3500018" cy="4892040"/>
          </a:xfrm>
          <a:prstGeom prst="roundRect">
            <a:avLst>
              <a:gd name="adj" fmla="val 2613"/>
            </a:avLst>
          </a:prstGeom>
          <a:solidFill>
            <a:srgbClr val="1A1B2E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914437" y="1508760"/>
            <a:ext cx="3500018" cy="502920"/>
          </a:xfrm>
          <a:prstGeom prst="roundRect">
            <a:avLst>
              <a:gd name="adj" fmla="val 18182"/>
            </a:avLst>
          </a:prstGeom>
          <a:solidFill>
            <a:srgbClr val="1A1B2E"/>
          </a:solidFill>
          <a:ln/>
        </p:spPr>
      </p:sp>
      <p:sp>
        <p:nvSpPr>
          <p:cNvPr id="16" name="Shape 12"/>
          <p:cNvSpPr/>
          <p:nvPr/>
        </p:nvSpPr>
        <p:spPr>
          <a:xfrm>
            <a:off x="7914437" y="1764792"/>
            <a:ext cx="3500018" cy="246888"/>
          </a:xfrm>
          <a:prstGeom prst="rect">
            <a:avLst/>
          </a:prstGeom>
          <a:solidFill>
            <a:srgbClr val="1A1B2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029" y="16276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17357" y="15087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Servidor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777240" y="21488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0392" y="21488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TAG 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zona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414418" y="28346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487570" y="28346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contra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local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414418" y="35204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487570" y="35204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(offline)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77240" y="42062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0392" y="42062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Escanea SKUs 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cantidades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777240" y="48920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50392" y="48920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 el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414418" y="55778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4487570" y="55778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 el paquete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lo envía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8051597" y="5577840"/>
            <a:ext cx="3225698" cy="566928"/>
          </a:xfrm>
          <a:prstGeom prst="roundRect">
            <a:avLst>
              <a:gd name="adj" fmla="val 12903"/>
            </a:avLst>
          </a:prstGeom>
          <a:solidFill>
            <a:srgbClr val="2A2450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124749" y="5577840"/>
            <a:ext cx="307939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la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2390089" y="2715768"/>
            <a:ext cx="3637178" cy="11887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4" name="Shape 29"/>
          <p:cNvSpPr/>
          <p:nvPr/>
        </p:nvSpPr>
        <p:spPr>
          <a:xfrm>
            <a:off x="6027268" y="3401568"/>
            <a:ext cx="0" cy="11887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5" name="Shape 30"/>
          <p:cNvSpPr/>
          <p:nvPr/>
        </p:nvSpPr>
        <p:spPr>
          <a:xfrm>
            <a:off x="2390089" y="4087368"/>
            <a:ext cx="3637178" cy="11887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6" name="Shape 31"/>
          <p:cNvSpPr/>
          <p:nvPr/>
        </p:nvSpPr>
        <p:spPr>
          <a:xfrm>
            <a:off x="2390089" y="4773168"/>
            <a:ext cx="0" cy="11887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7" name="Shape 32"/>
          <p:cNvSpPr/>
          <p:nvPr/>
        </p:nvSpPr>
        <p:spPr>
          <a:xfrm>
            <a:off x="2390089" y="5458968"/>
            <a:ext cx="3637178" cy="118872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8" name="Shape 33"/>
          <p:cNvSpPr/>
          <p:nvPr/>
        </p:nvSpPr>
        <p:spPr>
          <a:xfrm>
            <a:off x="6027268" y="5577840"/>
            <a:ext cx="3637178" cy="566928"/>
          </a:xfrm>
          <a:prstGeom prst="line">
            <a:avLst/>
          </a:prstGeom>
          <a:noFill/>
          <a:ln w="19050">
            <a:solidFill>
              <a:srgbClr val="8A93A6"/>
            </a:solidFill>
            <a:prstDash val="solid"/>
            <a:tailEnd type="triangle"/>
          </a:ln>
        </p:spPr>
      </p:sp>
      <p:sp>
        <p:nvSpPr>
          <p:cNvPr id="39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 un conteo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78028" y="1965960"/>
            <a:ext cx="3063240" cy="2834640"/>
          </a:xfrm>
          <a:prstGeom prst="roundRect">
            <a:avLst>
              <a:gd name="adj" fmla="val 4516"/>
            </a:avLst>
          </a:prstGeom>
          <a:solidFill>
            <a:srgbClr val="C2410C">
              <a:alpha val="10000"/>
            </a:srgbClr>
          </a:solidFill>
          <a:ln w="22225">
            <a:solidFill>
              <a:srgbClr val="C2410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52448" y="2331720"/>
            <a:ext cx="914400" cy="914400"/>
          </a:xfrm>
          <a:prstGeom prst="ellipse">
            <a:avLst/>
          </a:prstGeom>
          <a:solidFill>
            <a:srgbClr val="C2410C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5328" y="25146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8028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CURSO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06628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operador escanea y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cantidades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444" y="3236976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64228" y="1965960"/>
            <a:ext cx="3063240" cy="2834640"/>
          </a:xfrm>
          <a:prstGeom prst="roundRect">
            <a:avLst>
              <a:gd name="adj" fmla="val 4516"/>
            </a:avLst>
          </a:prstGeom>
          <a:solidFill>
            <a:srgbClr val="4338CA">
              <a:alpha val="10000"/>
            </a:srgbClr>
          </a:solidFill>
          <a:ln w="22225">
            <a:solidFill>
              <a:srgbClr val="4338C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638648" y="2331720"/>
            <a:ext cx="914400" cy="914400"/>
          </a:xfrm>
          <a:prstGeom prst="ellipse">
            <a:avLst/>
          </a:prstGeom>
          <a:solidFill>
            <a:srgbClr val="4338CA">
              <a:alpha val="18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51460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564228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FINALIZADO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92828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Cerrado; aún editable,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 de subir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644" y="3236976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450428" y="1965960"/>
            <a:ext cx="3063240" cy="2834640"/>
          </a:xfrm>
          <a:prstGeom prst="roundRect">
            <a:avLst>
              <a:gd name="adj" fmla="val 4516"/>
            </a:avLst>
          </a:prstGeom>
          <a:solidFill>
            <a:srgbClr val="15803D">
              <a:alpha val="10000"/>
            </a:srgbClr>
          </a:solidFill>
          <a:ln w="22225">
            <a:solidFill>
              <a:srgbClr val="15803D"/>
            </a:solidFill>
            <a:prstDash val="solid"/>
          </a:ln>
        </p:spPr>
      </p:sp>
      <p:sp>
        <p:nvSpPr>
          <p:cNvPr id="17" name="Shape 11"/>
          <p:cNvSpPr/>
          <p:nvPr/>
        </p:nvSpPr>
        <p:spPr>
          <a:xfrm>
            <a:off x="9524848" y="2331720"/>
            <a:ext cx="914400" cy="914400"/>
          </a:xfrm>
          <a:prstGeom prst="ellipse">
            <a:avLst/>
          </a:prstGeom>
          <a:solidFill>
            <a:srgbClr val="15803D">
              <a:alpha val="18000"/>
            </a:srgbClr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728" y="2514600"/>
            <a:ext cx="548640" cy="54864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450428" y="33832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SINCRONIZADO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8679028" y="37947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Confirmado por el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servidor; solo lectura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1097280" y="5257800"/>
            <a:ext cx="99971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vive directamente en la fila de conteo — sin tablas ni banderas externas. Es la única fuente de verdad.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00300"/>
            <a:ext cx="12191695" cy="2743200"/>
          </a:xfrm>
          <a:prstGeom prst="rect">
            <a:avLst/>
          </a:prstGeom>
          <a:solidFill>
            <a:srgbClr val="1E1B4B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312E81">
              <a:alpha val="5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8B5CF6">
              <a:alpha val="7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3804" y="1522476"/>
            <a:ext cx="704088" cy="7040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5176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Robustez del sistema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1371600" y="35204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Diseñado para un operador en terreno, no para un desarrollador en su escritorio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OFFLINE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Continuidad sin conexión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81448" cy="2011680"/>
          </a:xfrm>
          <a:prstGeom prst="roundRect">
            <a:avLst>
              <a:gd name="adj" fmla="val 5455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01168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990" y="2114550"/>
            <a:ext cx="480060" cy="480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11680"/>
            <a:ext cx="3718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Recuperación de sesión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2743200"/>
            <a:ext cx="4541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PDA se apaga a mitad de un conteo, al reabrir la app el trabajo sigue exactamente donde quedó.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70168" y="1691640"/>
            <a:ext cx="5181448" cy="2011680"/>
          </a:xfrm>
          <a:prstGeom prst="roundRect">
            <a:avLst>
              <a:gd name="adj" fmla="val 5455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90208" y="201168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078" y="2114550"/>
            <a:ext cx="480060" cy="480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58888" y="2011680"/>
            <a:ext cx="3718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Cola de escritura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690208" y="2743200"/>
            <a:ext cx="4541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escaneos se serializan: nunca dos operaciones SQLite compiten por la misma fila, sin importar la velocidad del operador.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23360"/>
            <a:ext cx="5181448" cy="2011680"/>
          </a:xfrm>
          <a:prstGeom prst="roundRect">
            <a:avLst>
              <a:gd name="adj" fmla="val 5455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60120" y="434340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4446270"/>
            <a:ext cx="480060" cy="480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343400"/>
            <a:ext cx="3718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de navegación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60120" y="5074920"/>
            <a:ext cx="4541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un conteo activo, no es posible reiniciar la selección de evento o zona — ni con el botón atrás del dispositivo.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370168" y="4023360"/>
            <a:ext cx="5181448" cy="2011680"/>
          </a:xfrm>
          <a:prstGeom prst="roundRect">
            <a:avLst>
              <a:gd name="adj" fmla="val 5455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90208" y="4343400"/>
            <a:ext cx="685800" cy="685800"/>
          </a:xfrm>
          <a:prstGeom prst="ellipse">
            <a:avLst/>
          </a:prstGeom>
          <a:solidFill>
            <a:srgbClr val="6366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078" y="4446270"/>
            <a:ext cx="480060" cy="480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58888" y="4343400"/>
            <a:ext cx="371840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datos versionada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690208" y="5074920"/>
            <a:ext cx="45413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cambios de esquema se aplican solo cuando es necesario; los datos del operador nunca se pierden entre versiones.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ACTUAL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está construido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647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3677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online / offline con caché local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258568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33172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0370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tienda, evento, zona y TAG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640080" y="2825496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898648"/>
            <a:ext cx="237744" cy="23774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7706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Conteo: escaneo, validación contra muestra, cantidades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40080" y="3392424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346557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3337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Edición y eliminación de productos contados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640080" y="3959352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4032504"/>
            <a:ext cx="237744" cy="23774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390448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de conteos en 3 estados con navegación protegida</a:t>
            </a:r>
            <a:endParaRPr lang="en-US" sz="1450" dirty="0"/>
          </a:p>
        </p:txBody>
      </p:sp>
      <p:sp>
        <p:nvSpPr>
          <p:cNvPr id="19" name="Shape 12"/>
          <p:cNvSpPr/>
          <p:nvPr/>
        </p:nvSpPr>
        <p:spPr>
          <a:xfrm>
            <a:off x="640080" y="4526280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599432"/>
            <a:ext cx="237744" cy="237744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234440" y="447141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de conteo editable antes de sincronizar</a:t>
            </a:r>
            <a:endParaRPr lang="en-US" sz="1450" dirty="0"/>
          </a:p>
        </p:txBody>
      </p:sp>
      <p:sp>
        <p:nvSpPr>
          <p:cNvPr id="22" name="Shape 14"/>
          <p:cNvSpPr/>
          <p:nvPr/>
        </p:nvSpPr>
        <p:spPr>
          <a:xfrm>
            <a:off x="640080" y="5093208"/>
            <a:ext cx="384048" cy="384048"/>
          </a:xfrm>
          <a:prstGeom prst="ellipse">
            <a:avLst/>
          </a:prstGeom>
          <a:solidFill>
            <a:srgbClr val="22C55E">
              <a:alpha val="18000"/>
            </a:srgbClr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166360"/>
            <a:ext cx="237744" cy="237744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234440" y="503834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(circuito completo, hoy simulado)</a:t>
            </a:r>
            <a:endParaRPr lang="en-US" sz="1450" dirty="0"/>
          </a:p>
        </p:txBody>
      </p:sp>
      <p:sp>
        <p:nvSpPr>
          <p:cNvPr id="25" name="Shape 16"/>
          <p:cNvSpPr/>
          <p:nvPr/>
        </p:nvSpPr>
        <p:spPr>
          <a:xfrm>
            <a:off x="9418320" y="1691640"/>
            <a:ext cx="2148840" cy="3840480"/>
          </a:xfrm>
          <a:prstGeom prst="roundRect">
            <a:avLst>
              <a:gd name="adj" fmla="val 5957"/>
            </a:avLst>
          </a:prstGeom>
          <a:solidFill>
            <a:srgbClr val="1A1B2E"/>
          </a:solidFill>
          <a:ln/>
        </p:spPr>
      </p:sp>
      <p:sp>
        <p:nvSpPr>
          <p:cNvPr id="26" name="Text 17"/>
          <p:cNvSpPr/>
          <p:nvPr/>
        </p:nvSpPr>
        <p:spPr>
          <a:xfrm>
            <a:off x="9418320" y="210312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EC4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6200" dirty="0"/>
          </a:p>
        </p:txBody>
      </p:sp>
      <p:sp>
        <p:nvSpPr>
          <p:cNvPr id="27" name="Text 18"/>
          <p:cNvSpPr/>
          <p:nvPr/>
        </p:nvSpPr>
        <p:spPr>
          <a:xfrm>
            <a:off x="9601200" y="3108960"/>
            <a:ext cx="1783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extremo</a:t>
            </a:r>
            <a:endParaRPr lang="en-US" sz="13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extremo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9738360" y="4617720"/>
            <a:ext cx="1508760" cy="0"/>
          </a:xfrm>
          <a:prstGeom prst="line">
            <a:avLst/>
          </a:prstGeom>
          <a:noFill/>
          <a:ln w="12700">
            <a:solidFill>
              <a:srgbClr val="4B4A7A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9601200" y="4800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capas — lista para conectar el backend real</a:t>
            </a:r>
            <a:endParaRPr lang="en-US" sz="1050" dirty="0"/>
          </a:p>
        </p:txBody>
      </p:sp>
      <p:sp>
        <p:nvSpPr>
          <p:cNvPr id="30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sigue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E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691640" y="1737360"/>
            <a:ext cx="9859975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173736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real con el backend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49240" y="1737360"/>
            <a:ext cx="6156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Reemplazar la sincronización simulada por las llamadas SOAP definidas (DescargarMuestra, CargarConteos, RegistrarSincronizacion).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" y="274320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E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1691640" y="2788920"/>
            <a:ext cx="9859975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27889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Edición de zona y TAG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788920"/>
            <a:ext cx="6156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corregir la ubicación de un conteo ya finalizado, reutilizando el mismo flujo de confirmación.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E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1691640" y="3840480"/>
            <a:ext cx="9859975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20240" y="384048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Reglas de reconteo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49240" y="3840480"/>
            <a:ext cx="6156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qué ocurre al volver a contar una ubicación ya finalizada: ¿bloquear, reabrir o acumular?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84632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4E1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Shape 15"/>
          <p:cNvSpPr/>
          <p:nvPr/>
        </p:nvSpPr>
        <p:spPr>
          <a:xfrm>
            <a:off x="1691640" y="4892040"/>
            <a:ext cx="9859975" cy="868680"/>
          </a:xfrm>
          <a:prstGeom prst="roundRect">
            <a:avLst>
              <a:gd name="adj" fmla="val 10526"/>
            </a:avLst>
          </a:prstGeom>
          <a:solidFill>
            <a:srgbClr val="F6F5FC"/>
          </a:solidFill>
          <a:ln w="12700">
            <a:solidFill>
              <a:srgbClr val="E4E1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48920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36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Aviso de datos desactualizados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49240" y="4892040"/>
            <a:ext cx="61566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Alertar cuando el operador trabaja offline con una descarga de varios días de antigüedad.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400300"/>
            <a:ext cx="12191695" cy="2743200"/>
          </a:xfrm>
          <a:prstGeom prst="rect">
            <a:avLst/>
          </a:prstGeom>
          <a:solidFill>
            <a:srgbClr val="1E1B4B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263" y="0"/>
            <a:ext cx="6705432" cy="6858000"/>
          </a:xfrm>
          <a:prstGeom prst="rect">
            <a:avLst/>
          </a:prstGeom>
          <a:solidFill>
            <a:srgbClr val="312E8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5181448" y="3520440"/>
            <a:ext cx="1828800" cy="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70332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B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comentarios del equipo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2026-07-24T15:43:14Z</dcterms:created>
  <dcterms:modified xsi:type="dcterms:W3CDTF">2026-07-24T15:43:14Z</dcterms:modified>
</cp:coreProperties>
</file>